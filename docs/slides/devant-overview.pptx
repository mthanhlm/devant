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576000" y="1512000"/>
            <a:ext cx="7200000" cy="2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253" strike="noStrike">
                <a:solidFill>
                  <a:srgbClr val="9c9a93"/>
                </a:solidFill>
                <a:latin typeface="Arial"/>
              </a:rPr>
              <a:t>Claude Code plugin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540000" y="1800000"/>
            <a:ext cx="720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6000" spc="-1" strike="noStrike">
                <a:solidFill>
                  <a:srgbClr val="ffffff"/>
                </a:solidFill>
                <a:latin typeface="Arial"/>
              </a:rPr>
              <a:t>devant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576000" y="3132000"/>
            <a:ext cx="1440000" cy="32400"/>
          </a:xfrm>
          <a:prstGeom prst="rect">
            <a:avLst/>
          </a:prstGeom>
          <a:solidFill>
            <a:srgbClr val="c4351f"/>
          </a:solidFill>
          <a:ln w="0">
            <a:noFill/>
          </a:ln>
        </p:spPr>
        <p:txBody>
          <a:bodyPr lIns="90000" rIns="90000" tIns="-12600" bIns="-126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576000" y="3276000"/>
            <a:ext cx="8280000" cy="57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9c9a93"/>
                </a:solidFill>
                <a:latin typeface="Arial"/>
              </a:rPr>
              <a:t>A coding companion that guards your intent, and pushes back.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576000" y="540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1b1a17"/>
                </a:solidFill>
                <a:latin typeface="Arial"/>
              </a:rPr>
              <a:t>They do what you say, and forget why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76000" y="2016000"/>
            <a:ext cx="8928000" cy="10800"/>
          </a:xfrm>
          <a:prstGeom prst="rect">
            <a:avLst/>
          </a:prstGeom>
          <a:solidFill>
            <a:srgbClr val="e4e2dc"/>
          </a:solidFill>
          <a:ln w="0">
            <a:noFill/>
          </a:ln>
        </p:spPr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76000" y="2232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1b1a17"/>
                </a:solidFill>
                <a:latin typeface="Arial"/>
              </a:rPr>
              <a:t>Forgets why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240000" y="2250000"/>
            <a:ext cx="57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6e6b64"/>
                </a:solidFill>
                <a:latin typeface="Arial"/>
              </a:rPr>
              <a:t>No memory of the decisions behind the code.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576000" y="2952000"/>
            <a:ext cx="8928000" cy="10800"/>
          </a:xfrm>
          <a:prstGeom prst="rect">
            <a:avLst/>
          </a:prstGeom>
          <a:solidFill>
            <a:srgbClr val="e4e2dc"/>
          </a:solidFill>
          <a:ln w="0">
            <a:noFill/>
          </a:ln>
        </p:spPr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76000" y="3168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1b1a17"/>
                </a:solidFill>
                <a:latin typeface="Arial"/>
              </a:rPr>
              <a:t>Agrees blindly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3240000" y="3186000"/>
            <a:ext cx="57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6e6b64"/>
                </a:solidFill>
                <a:latin typeface="Arial"/>
              </a:rPr>
              <a:t>Mirrors whatever you said last, even when you are wrong.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76000" y="3888000"/>
            <a:ext cx="8928000" cy="10800"/>
          </a:xfrm>
          <a:prstGeom prst="rect">
            <a:avLst/>
          </a:prstGeom>
          <a:solidFill>
            <a:srgbClr val="e4e2dc"/>
          </a:solidFill>
          <a:ln w="0">
            <a:noFill/>
          </a:ln>
        </p:spPr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76000" y="4104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1b1a17"/>
                </a:solidFill>
                <a:latin typeface="Arial"/>
              </a:rPr>
              <a:t>Ships debt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240000" y="4122000"/>
            <a:ext cx="57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500" spc="-1" strike="noStrike">
                <a:solidFill>
                  <a:srgbClr val="6e6b64"/>
                </a:solidFill>
                <a:latin typeface="Arial"/>
              </a:rPr>
              <a:t>Optimizes the next diff, not the project intent.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576000" y="4824000"/>
            <a:ext cx="8928000" cy="10800"/>
          </a:xfrm>
          <a:prstGeom prst="rect">
            <a:avLst/>
          </a:prstGeom>
          <a:solidFill>
            <a:srgbClr val="e4e2dc"/>
          </a:solidFill>
          <a:ln w="0">
            <a:noFill/>
          </a:ln>
        </p:spPr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576000" y="684000"/>
            <a:ext cx="8640000" cy="105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400" spc="-1" strike="noStrike">
                <a:solidFill>
                  <a:srgbClr val="ffffff"/>
                </a:solidFill>
                <a:latin typeface="Arial"/>
              </a:rPr>
              <a:t>A teammate that knows what to do, and what not to do.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576000" y="2232000"/>
            <a:ext cx="1440000" cy="32400"/>
          </a:xfrm>
          <a:prstGeom prst="rect">
            <a:avLst/>
          </a:prstGeom>
          <a:solidFill>
            <a:srgbClr val="c4351f"/>
          </a:solidFill>
          <a:ln w="0">
            <a:noFill/>
          </a:ln>
        </p:spPr>
        <p:txBody>
          <a:bodyPr lIns="90000" rIns="90000" tIns="-12600" bIns="-126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76000" y="2520000"/>
            <a:ext cx="828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9c9a93"/>
                </a:solidFill>
                <a:latin typeface="Arial"/>
              </a:rPr>
              <a:t>Grounds every change in your vision, direction, and rules.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76000" y="3096000"/>
            <a:ext cx="828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9c9a93"/>
                </a:solidFill>
                <a:latin typeface="Arial"/>
              </a:rPr>
              <a:t>Blocks debt before it lands, not in code review.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76000" y="3672000"/>
            <a:ext cx="828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9c9a93"/>
                </a:solidFill>
                <a:latin typeface="Arial"/>
              </a:rPr>
              <a:t>One command. Ceremony scales to blast radius, not line count.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576000" y="540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1b1a17"/>
                </a:solidFill>
                <a:latin typeface="Arial"/>
              </a:rPr>
              <a:t>How devant handles every request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240000" y="1782000"/>
            <a:ext cx="288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000" spc="-1" strike="noStrike">
                <a:solidFill>
                  <a:srgbClr val="c4351f"/>
                </a:solidFill>
                <a:latin typeface="Arial"/>
              </a:rPr>
              <a:t>push back if debt-prone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 flipV="1">
            <a:off x="5040000" y="2016000"/>
            <a:ext cx="0" cy="324000"/>
          </a:xfrm>
          <a:prstGeom prst="line">
            <a:avLst/>
          </a:prstGeom>
          <a:ln w="18000">
            <a:solidFill>
              <a:srgbClr val="c43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3240000" y="2016000"/>
            <a:ext cx="1800000" cy="0"/>
          </a:xfrm>
          <a:prstGeom prst="line">
            <a:avLst/>
          </a:prstGeom>
          <a:ln w="18000">
            <a:solidFill>
              <a:srgbClr val="c43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240000" y="2016000"/>
            <a:ext cx="0" cy="324000"/>
          </a:xfrm>
          <a:prstGeom prst="line">
            <a:avLst/>
          </a:prstGeom>
          <a:ln w="18000">
            <a:solidFill>
              <a:srgbClr val="c4351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720000" y="2340000"/>
            <a:ext cx="1440000" cy="864000"/>
          </a:xfrm>
          <a:prstGeom prst="rect">
            <a:avLst/>
          </a:prstGeom>
          <a:solidFill>
            <a:srgbClr val="f2f1ee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2520000" y="2340000"/>
            <a:ext cx="1440000" cy="864000"/>
          </a:xfrm>
          <a:prstGeom prst="rect">
            <a:avLst/>
          </a:prstGeom>
          <a:solidFill>
            <a:srgbClr val="f2f1ee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4320000" y="2340000"/>
            <a:ext cx="1440000" cy="864000"/>
          </a:xfrm>
          <a:prstGeom prst="rect">
            <a:avLst/>
          </a:prstGeom>
          <a:solidFill>
            <a:srgbClr val="f2f1ee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120000" y="2340000"/>
            <a:ext cx="1440000" cy="864000"/>
          </a:xfrm>
          <a:prstGeom prst="rect">
            <a:avLst/>
          </a:prstGeom>
          <a:solidFill>
            <a:srgbClr val="f2f1ee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7920000" y="2340000"/>
            <a:ext cx="1440000" cy="864000"/>
          </a:xfrm>
          <a:prstGeom prst="rect">
            <a:avLst/>
          </a:prstGeom>
          <a:solidFill>
            <a:srgbClr val="c4351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20000" y="2610000"/>
            <a:ext cx="144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1b1a17"/>
                </a:solidFill>
                <a:latin typeface="Arial"/>
              </a:rPr>
              <a:t>Request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520000" y="2502000"/>
            <a:ext cx="1440000" cy="30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1b1a17"/>
                </a:solidFill>
                <a:latin typeface="Arial"/>
              </a:rPr>
              <a:t>Ground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520000" y="2826000"/>
            <a:ext cx="14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6e6b64"/>
                </a:solidFill>
                <a:latin typeface="Arial"/>
              </a:rPr>
              <a:t>codegraph and intent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320000" y="2502000"/>
            <a:ext cx="1440000" cy="30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1b1a17"/>
                </a:solidFill>
                <a:latin typeface="Arial"/>
              </a:rPr>
              <a:t>Route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320000" y="2826000"/>
            <a:ext cx="14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6e6b64"/>
                </a:solidFill>
                <a:latin typeface="Arial"/>
              </a:rPr>
              <a:t>to one specialist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6120000" y="2502000"/>
            <a:ext cx="1440000" cy="30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1b1a17"/>
                </a:solidFill>
                <a:latin typeface="Arial"/>
              </a:rPr>
              <a:t>Build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120000" y="2826000"/>
            <a:ext cx="1440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6e6b64"/>
                </a:solidFill>
                <a:latin typeface="Arial"/>
              </a:rPr>
              <a:t>guard blocks debt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920000" y="2502000"/>
            <a:ext cx="1440000" cy="30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Verify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920000" y="2826000"/>
            <a:ext cx="1440000" cy="37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f5d9d2"/>
                </a:solidFill>
                <a:latin typeface="Arial"/>
              </a:rPr>
              <a:t>real output, not a claim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2160000" y="2772000"/>
            <a:ext cx="360000" cy="0"/>
          </a:xfrm>
          <a:prstGeom prst="line">
            <a:avLst/>
          </a:prstGeom>
          <a:ln w="19800">
            <a:solidFill>
              <a:srgbClr val="1b1a1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3960000" y="2772000"/>
            <a:ext cx="360000" cy="0"/>
          </a:xfrm>
          <a:prstGeom prst="line">
            <a:avLst/>
          </a:prstGeom>
          <a:ln w="19800">
            <a:solidFill>
              <a:srgbClr val="1b1a1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5760000" y="2772000"/>
            <a:ext cx="360000" cy="0"/>
          </a:xfrm>
          <a:prstGeom prst="line">
            <a:avLst/>
          </a:prstGeom>
          <a:ln w="19800">
            <a:solidFill>
              <a:srgbClr val="1b1a1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7560000" y="2772000"/>
            <a:ext cx="360000" cy="0"/>
          </a:xfrm>
          <a:prstGeom prst="line">
            <a:avLst/>
          </a:prstGeom>
          <a:ln w="19800">
            <a:solidFill>
              <a:srgbClr val="1b1a1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8640000" y="3204000"/>
            <a:ext cx="0" cy="360000"/>
          </a:xfrm>
          <a:prstGeom prst="line">
            <a:avLst/>
          </a:prstGeom>
          <a:ln w="18000">
            <a:solidFill>
              <a:srgbClr val="c43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 flipH="1">
            <a:off x="6840000" y="3564000"/>
            <a:ext cx="1800000" cy="0"/>
          </a:xfrm>
          <a:prstGeom prst="line">
            <a:avLst/>
          </a:prstGeom>
          <a:ln w="18000">
            <a:solidFill>
              <a:srgbClr val="c43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 flipV="1">
            <a:off x="6840000" y="3204000"/>
            <a:ext cx="0" cy="360000"/>
          </a:xfrm>
          <a:prstGeom prst="line">
            <a:avLst/>
          </a:prstGeom>
          <a:ln w="18000">
            <a:solidFill>
              <a:srgbClr val="c4351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660000" y="3618000"/>
            <a:ext cx="2160000" cy="23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000" spc="-1" strike="noStrike">
                <a:solidFill>
                  <a:srgbClr val="c4351f"/>
                </a:solidFill>
                <a:latin typeface="Arial"/>
              </a:rPr>
              <a:t>loop until green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576000" y="540000"/>
            <a:ext cx="9000000" cy="57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1b1a17"/>
                </a:solidFill>
                <a:latin typeface="Arial"/>
              </a:rPr>
              <a:t>/devant:run routes to the right specialist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720000" y="2124000"/>
            <a:ext cx="2700000" cy="792000"/>
          </a:xfrm>
          <a:prstGeom prst="rect">
            <a:avLst/>
          </a:prstGeom>
          <a:solidFill>
            <a:srgbClr val="f2f1ee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3690000" y="2124000"/>
            <a:ext cx="2700000" cy="792000"/>
          </a:xfrm>
          <a:prstGeom prst="rect">
            <a:avLst/>
          </a:prstGeom>
          <a:solidFill>
            <a:srgbClr val="f2f1ee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660000" y="2124000"/>
            <a:ext cx="2700000" cy="792000"/>
          </a:xfrm>
          <a:prstGeom prst="rect">
            <a:avLst/>
          </a:prstGeom>
          <a:solidFill>
            <a:srgbClr val="f2f1ee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720000" y="3024000"/>
            <a:ext cx="2700000" cy="792000"/>
          </a:xfrm>
          <a:prstGeom prst="rect">
            <a:avLst/>
          </a:prstGeom>
          <a:solidFill>
            <a:srgbClr val="f2f1ee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690000" y="3024000"/>
            <a:ext cx="2700000" cy="792000"/>
          </a:xfrm>
          <a:prstGeom prst="rect">
            <a:avLst/>
          </a:prstGeom>
          <a:solidFill>
            <a:srgbClr val="c4351f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660000" y="3024000"/>
            <a:ext cx="2700000" cy="792000"/>
          </a:xfrm>
          <a:prstGeom prst="rect">
            <a:avLst/>
          </a:prstGeom>
          <a:solidFill>
            <a:srgbClr val="f2f1ee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720000" y="3924000"/>
            <a:ext cx="2700000" cy="792000"/>
          </a:xfrm>
          <a:prstGeom prst="rect">
            <a:avLst/>
          </a:prstGeom>
          <a:solidFill>
            <a:srgbClr val="f2f1ee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690000" y="3924000"/>
            <a:ext cx="2700000" cy="792000"/>
          </a:xfrm>
          <a:prstGeom prst="rect">
            <a:avLst/>
          </a:prstGeom>
          <a:solidFill>
            <a:srgbClr val="f2f1ee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6660000" y="3924000"/>
            <a:ext cx="2700000" cy="792000"/>
          </a:xfrm>
          <a:prstGeom prst="rect">
            <a:avLst/>
          </a:prstGeom>
          <a:solidFill>
            <a:srgbClr val="f2f1ee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720000" y="2358000"/>
            <a:ext cx="270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1b1a17"/>
                </a:solidFill>
                <a:latin typeface="Arial"/>
              </a:rPr>
              <a:t>Ask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690000" y="2358000"/>
            <a:ext cx="270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1b1a17"/>
                </a:solidFill>
                <a:latin typeface="Arial"/>
              </a:rPr>
              <a:t>Architect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660000" y="2358000"/>
            <a:ext cx="270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1b1a17"/>
                </a:solidFill>
                <a:latin typeface="Arial"/>
              </a:rPr>
              <a:t>Code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20000" y="3258000"/>
            <a:ext cx="270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1b1a17"/>
                </a:solidFill>
                <a:latin typeface="Arial"/>
              </a:rPr>
              <a:t>Diagram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3690000" y="3258000"/>
            <a:ext cx="270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Slide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6660000" y="3258000"/>
            <a:ext cx="270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1b1a17"/>
                </a:solidFill>
                <a:latin typeface="Arial"/>
              </a:rPr>
              <a:t>Document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20000" y="4158000"/>
            <a:ext cx="270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1b1a17"/>
                </a:solidFill>
                <a:latin typeface="Arial"/>
              </a:rPr>
              <a:t>Intent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690000" y="4158000"/>
            <a:ext cx="270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1b1a17"/>
                </a:solidFill>
                <a:latin typeface="Arial"/>
              </a:rPr>
              <a:t>Review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6660000" y="4158000"/>
            <a:ext cx="270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1b1a17"/>
                </a:solidFill>
                <a:latin typeface="Arial"/>
              </a:rPr>
              <a:t>Debate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 txBox="1"/>
          <p:nvPr/>
        </p:nvSpPr>
        <p:spPr>
          <a:xfrm>
            <a:off x="576000" y="1008000"/>
            <a:ext cx="8640000" cy="93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400" spc="-1" strike="noStrike">
                <a:solidFill>
                  <a:srgbClr val="ffffff"/>
                </a:solidFill>
                <a:latin typeface="Arial"/>
              </a:rPr>
              <a:t>A grounded debating peer, not a servant.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576000" y="3384000"/>
            <a:ext cx="8928000" cy="10800"/>
          </a:xfrm>
          <a:prstGeom prst="rect">
            <a:avLst/>
          </a:prstGeom>
          <a:solidFill>
            <a:srgbClr val="3a382f"/>
          </a:solidFill>
          <a:ln w="0">
            <a:noFill/>
          </a:ln>
        </p:spPr>
        <p:txBody>
          <a:bodyPr lIns="90000" rIns="90000" tIns="-34200" bIns="-342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76000" y="3600000"/>
            <a:ext cx="2664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9c9a93"/>
                </a:solidFill>
                <a:latin typeface="Arial"/>
              </a:rPr>
              <a:t>Local-only intent graph you own. Never committed.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708000" y="3600000"/>
            <a:ext cx="2664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9c9a93"/>
                </a:solidFill>
                <a:latin typeface="Arial"/>
              </a:rPr>
              <a:t>Zero-install. python3 stdlib, runs anywhere.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840000" y="3600000"/>
            <a:ext cx="2664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9c9a93"/>
                </a:solidFill>
                <a:latin typeface="Arial"/>
              </a:rPr>
              <a:t>Concedes to better evidence, never to insistence.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76000" y="4896000"/>
            <a:ext cx="7200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6e6b64"/>
                </a:solidFill>
                <a:latin typeface="Arial"/>
              </a:rPr>
              <a:t>github.com/mthanhlm/devant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